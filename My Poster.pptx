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4"/>
  </p:notesMasterIdLst>
  <p:handoutMasterIdLst>
    <p:handoutMasterId r:id="rId5"/>
  </p:handoutMasterIdLst>
  <p:sldIdLst>
    <p:sldId id="256" r:id="rId3"/>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p:scale>
          <a:sx n="20" d="100"/>
          <a:sy n="20" d="100"/>
        </p:scale>
        <p:origin x="12" y="-990"/>
      </p:cViewPr>
      <p:guideLst/>
    </p:cSldViewPr>
  </p:slideViewPr>
  <p:notesTextViewPr>
    <p:cViewPr>
      <p:scale>
        <a:sx n="1" d="1"/>
        <a:sy n="1" d="1"/>
      </p:scale>
      <p:origin x="0" y="0"/>
    </p:cViewPr>
  </p:notesTextViewPr>
  <p:notesViewPr>
    <p:cSldViewPr snapToGrid="0" showGuides="1">
      <p:cViewPr varScale="1">
        <p:scale>
          <a:sx n="69" d="100"/>
          <a:sy n="69" d="100"/>
        </p:scale>
        <p:origin x="2706"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12/10/2025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12/10/2025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32" name="Instructions"/>
          <p:cNvSpPr/>
          <p:nvPr userDrawn="1"/>
        </p:nvSpPr>
        <p:spPr>
          <a:xfrm>
            <a:off x="44302680" y="-1"/>
            <a:ext cx="1244727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t"/>
          <a:lstStyle/>
          <a:p>
            <a:pPr lvl="0">
              <a:spcBef>
                <a:spcPts val="1200"/>
              </a:spcBef>
            </a:pPr>
            <a:r>
              <a:rPr sz="96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1200"/>
              </a:spcBef>
            </a:pPr>
            <a:r>
              <a:rPr lang="en-US" sz="6600" dirty="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300"/>
              </a:spcBef>
            </a:pPr>
            <a:endParaRPr sz="6000" dirty="0">
              <a:solidFill>
                <a:prstClr val="white">
                  <a:lumMod val="50000"/>
                </a:prstClr>
              </a:solidFill>
              <a:latin typeface="Calibri Light" panose="020F0302020204030204" pitchFamily="34" charset="0"/>
              <a:cs typeface="Calibri" panose="020F0502020204030204" pitchFamily="34" charset="0"/>
            </a:endParaRPr>
          </a:p>
          <a:p>
            <a:pPr lvl="0">
              <a:spcBef>
                <a:spcPts val="1200"/>
              </a:spcBef>
            </a:pPr>
            <a:r>
              <a:rPr sz="8800"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1200"/>
              </a:spcBef>
            </a:pPr>
            <a:r>
              <a:rPr sz="6600"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6600" dirty="0">
                <a:solidFill>
                  <a:prstClr val="white">
                    <a:lumMod val="50000"/>
                  </a:prstClr>
                </a:solidFill>
                <a:latin typeface="Calibri Light" panose="020F0302020204030204" pitchFamily="34" charset="0"/>
                <a:cs typeface="Calibri" panose="020F0502020204030204" pitchFamily="34" charset="0"/>
              </a:rPr>
              <a:t>poster </a:t>
            </a:r>
            <a:r>
              <a:rPr sz="6600" dirty="0">
                <a:solidFill>
                  <a:prstClr val="white">
                    <a:lumMod val="50000"/>
                  </a:prstClr>
                </a:solidFill>
                <a:latin typeface="Calibri Light" panose="020F0302020204030204" pitchFamily="34" charset="0"/>
                <a:cs typeface="Calibri" panose="020F0502020204030204" pitchFamily="34" charset="0"/>
              </a:rPr>
              <a:t>are formatted for you. </a:t>
            </a:r>
            <a:r>
              <a:rPr lang="en-US" sz="6600" dirty="0">
                <a:solidFill>
                  <a:prstClr val="white">
                    <a:lumMod val="50000"/>
                  </a:prstClr>
                </a:solidFill>
                <a:latin typeface="Calibri Light" panose="020F0302020204030204" pitchFamily="34" charset="0"/>
                <a:cs typeface="Calibri" panose="020F0502020204030204" pitchFamily="34" charset="0"/>
              </a:rPr>
              <a:t>Type</a:t>
            </a:r>
            <a:r>
              <a:rPr lang="en-US" sz="6600" baseline="0" dirty="0">
                <a:solidFill>
                  <a:prstClr val="white">
                    <a:lumMod val="50000"/>
                  </a:prstClr>
                </a:solidFill>
                <a:latin typeface="Calibri Light" panose="020F0302020204030204" pitchFamily="34" charset="0"/>
                <a:cs typeface="Calibri" panose="020F0502020204030204" pitchFamily="34" charset="0"/>
              </a:rPr>
              <a:t> in the placeholders </a:t>
            </a:r>
            <a:r>
              <a:rPr lang="en-US" sz="6600" dirty="0">
                <a:solidFill>
                  <a:prstClr val="white">
                    <a:lumMod val="50000"/>
                  </a:prstClr>
                </a:solidFill>
                <a:latin typeface="Calibri Light" panose="020F0302020204030204" pitchFamily="34" charset="0"/>
                <a:cs typeface="Calibri" panose="020F0502020204030204" pitchFamily="34" charset="0"/>
              </a:rPr>
              <a:t>to add text, or c</a:t>
            </a:r>
            <a:r>
              <a:rPr lang="en-US" sz="6600" baseline="0" dirty="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2400"/>
              </a:spcBef>
            </a:pPr>
            <a:r>
              <a:rPr lang="en-US" sz="6600" dirty="0">
                <a:solidFill>
                  <a:prstClr val="white">
                    <a:lumMod val="50000"/>
                  </a:prstClr>
                </a:solidFill>
                <a:latin typeface="Calibri Light" panose="020F0302020204030204" pitchFamily="34" charset="0"/>
                <a:cs typeface="Calibri" panose="020F0502020204030204" pitchFamily="34" charset="0"/>
              </a:rPr>
              <a:t>T</a:t>
            </a:r>
            <a:r>
              <a:rPr sz="6600" dirty="0">
                <a:solidFill>
                  <a:prstClr val="white">
                    <a:lumMod val="50000"/>
                  </a:prstClr>
                </a:solidFill>
                <a:latin typeface="Calibri Light" panose="020F0302020204030204" pitchFamily="34" charset="0"/>
                <a:cs typeface="Calibri" panose="020F0502020204030204" pitchFamily="34" charset="0"/>
              </a:rPr>
              <a:t>o add or remove bullet points from text, click the Bullets button on the Home tab.</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6600" dirty="0">
                <a:solidFill>
                  <a:prstClr val="white">
                    <a:lumMod val="50000"/>
                  </a:prstClr>
                </a:solidFill>
                <a:latin typeface="Calibri Light" panose="020F0302020204030204" pitchFamily="34" charset="0"/>
                <a:cs typeface="Calibri" panose="020F0502020204030204" pitchFamily="34" charset="0"/>
              </a:rPr>
              <a:t>content</a:t>
            </a:r>
            <a:r>
              <a:rPr sz="6600" dirty="0">
                <a:solidFill>
                  <a:prstClr val="white">
                    <a:lumMod val="50000"/>
                  </a:prstClr>
                </a:solidFill>
                <a:latin typeface="Calibri Light" panose="020F0302020204030204" pitchFamily="34" charset="0"/>
                <a:cs typeface="Calibri" panose="020F0502020204030204" pitchFamily="34" charset="0"/>
              </a:rPr>
              <a:t> or body text, make a copy of what you need and drag it into place. PowerPoint’s Smart Guides will help you align it with everything else.</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Want to use your own picture</a:t>
            </a:r>
            <a:r>
              <a:rPr lang="en-US" sz="6600" dirty="0">
                <a:solidFill>
                  <a:prstClr val="white">
                    <a:lumMod val="50000"/>
                  </a:prstClr>
                </a:solidFill>
                <a:latin typeface="Calibri Light" panose="020F0302020204030204" pitchFamily="34" charset="0"/>
                <a:cs typeface="Calibri" panose="020F0502020204030204" pitchFamily="34" charset="0"/>
              </a:rPr>
              <a:t>s</a:t>
            </a:r>
            <a:r>
              <a:rPr sz="6600" dirty="0">
                <a:solidFill>
                  <a:prstClr val="white">
                    <a:lumMod val="50000"/>
                  </a:prstClr>
                </a:solidFill>
                <a:latin typeface="Calibri Light" panose="020F0302020204030204" pitchFamily="34" charset="0"/>
                <a:cs typeface="Calibri" panose="020F0502020204030204" pitchFamily="34" charset="0"/>
              </a:rPr>
              <a:t> instead of ours? No problem!</a:t>
            </a:r>
            <a:r>
              <a:rPr lang="en-US" sz="6600" dirty="0">
                <a:solidFill>
                  <a:prstClr val="white">
                    <a:lumMod val="50000"/>
                  </a:prstClr>
                </a:solidFill>
                <a:latin typeface="Calibri Light" panose="020F0302020204030204" pitchFamily="34" charset="0"/>
                <a:cs typeface="Calibri" panose="020F0502020204030204" pitchFamily="34" charset="0"/>
              </a:rPr>
              <a:t> Just click a picture, press the Delete key, then click the icon to add your picture.</a:t>
            </a:r>
            <a:endParaRPr sz="6600" dirty="0">
              <a:solidFill>
                <a:prstClr val="white">
                  <a:lumMod val="50000"/>
                </a:prstClr>
              </a:solidFill>
              <a:latin typeface="Calibri Light" panose="020F0302020204030204" pitchFamily="34" charset="0"/>
              <a:cs typeface="Calibri" panose="020F0502020204030204" pitchFamily="34" charset="0"/>
            </a:endParaRPr>
          </a:p>
        </p:txBody>
      </p:sp>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Type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p:txBody>
          <a:bodyPr/>
          <a:lstStyle/>
          <a:p>
            <a:fld id="{ECAA57DF-1C19-4726-AB84-014692BAD8F5}"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32270700" y="0"/>
            <a:ext cx="11620500" cy="3842445"/>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1158240" y="685860"/>
            <a:ext cx="30175200" cy="29717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8240" y="6019800"/>
            <a:ext cx="41589960" cy="236296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12/10/2025</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Pokémon Nuzlockes</a:t>
            </a:r>
          </a:p>
        </p:txBody>
      </p:sp>
      <p:sp>
        <p:nvSpPr>
          <p:cNvPr id="23" name="Text Placeholder 22"/>
          <p:cNvSpPr>
            <a:spLocks noGrp="1"/>
          </p:cNvSpPr>
          <p:nvPr>
            <p:ph type="body" sz="quarter" idx="36"/>
          </p:nvPr>
        </p:nvSpPr>
        <p:spPr/>
        <p:txBody>
          <a:bodyPr/>
          <a:lstStyle/>
          <a:p>
            <a:r>
              <a:rPr lang="en-US" dirty="0"/>
              <a:t>Your name | Huntington University | CS 415 Database Management – Fall 2025 - Final Project</a:t>
            </a:r>
          </a:p>
        </p:txBody>
      </p:sp>
      <p:sp>
        <p:nvSpPr>
          <p:cNvPr id="67" name="Text Placeholder 66"/>
          <p:cNvSpPr>
            <a:spLocks noGrp="1"/>
          </p:cNvSpPr>
          <p:nvPr>
            <p:ph type="body" sz="quarter" idx="13"/>
          </p:nvPr>
        </p:nvSpPr>
        <p:spPr/>
        <p:txBody>
          <a:bodyPr/>
          <a:lstStyle/>
          <a:p>
            <a:r>
              <a:rPr lang="en-US" dirty="0"/>
              <a:t>Overview</a:t>
            </a:r>
          </a:p>
        </p:txBody>
      </p:sp>
      <p:sp>
        <p:nvSpPr>
          <p:cNvPr id="12" name="Content Placeholder 11"/>
          <p:cNvSpPr>
            <a:spLocks noGrp="1"/>
          </p:cNvSpPr>
          <p:nvPr>
            <p:ph sz="quarter" idx="25"/>
          </p:nvPr>
        </p:nvSpPr>
        <p:spPr>
          <a:xfrm>
            <a:off x="1188720" y="7137184"/>
            <a:ext cx="13489806" cy="4648832"/>
          </a:xfrm>
        </p:spPr>
        <p:txBody>
          <a:bodyPr>
            <a:normAutofit fontScale="77500" lnSpcReduction="20000"/>
          </a:bodyPr>
          <a:lstStyle/>
          <a:p>
            <a:endParaRPr lang="en-US" dirty="0"/>
          </a:p>
          <a:p>
            <a:r>
              <a:rPr lang="en-US" dirty="0"/>
              <a:t>This is a database that will be used for Pokémon Nuzlockes. This can be used for multiple people or even for one person across multiple Pokémon games. With a Pokémon table to hold most basic info needed about the Pokémon captured. One table to show off all the types; With one to connect the Pokémon to the typing charts. And finally, one to hold all basic information on the person's trainer character. Describing how the database will be used from a user’s perspective.</a:t>
            </a:r>
          </a:p>
          <a:p>
            <a:r>
              <a:rPr lang="en-US" dirty="0"/>
              <a:t>In the eyes of the view this will just make things easier. This is shown in the fact that all the Pokémon the have and which routes they have already captured their one Pokémon. Which will overall make things easier to keep track of. Outside of that it will make things easier through the fact that if the person has multiple Nuzlockes going on they can keep those multiple playthroughs on the same database whist keeping them separate from each other.</a:t>
            </a:r>
          </a:p>
        </p:txBody>
      </p:sp>
      <p:sp>
        <p:nvSpPr>
          <p:cNvPr id="8" name="Text Placeholder 7"/>
          <p:cNvSpPr>
            <a:spLocks noGrp="1"/>
          </p:cNvSpPr>
          <p:nvPr>
            <p:ph type="body" sz="quarter" idx="19"/>
          </p:nvPr>
        </p:nvSpPr>
        <p:spPr>
          <a:xfrm>
            <a:off x="1188720" y="21972225"/>
            <a:ext cx="12801600" cy="1219200"/>
          </a:xfrm>
        </p:spPr>
        <p:txBody>
          <a:bodyPr/>
          <a:lstStyle/>
          <a:p>
            <a:r>
              <a:rPr lang="en-US" dirty="0"/>
              <a:t>ER Model</a:t>
            </a:r>
          </a:p>
        </p:txBody>
      </p:sp>
      <p:sp>
        <p:nvSpPr>
          <p:cNvPr id="9" name="Text Placeholder 8"/>
          <p:cNvSpPr>
            <a:spLocks noGrp="1"/>
          </p:cNvSpPr>
          <p:nvPr>
            <p:ph type="body" sz="quarter" idx="21"/>
          </p:nvPr>
        </p:nvSpPr>
        <p:spPr/>
        <p:txBody>
          <a:bodyPr/>
          <a:lstStyle/>
          <a:p>
            <a:r>
              <a:rPr lang="en-US" dirty="0"/>
              <a:t>Data</a:t>
            </a:r>
          </a:p>
        </p:txBody>
      </p:sp>
      <p:sp>
        <p:nvSpPr>
          <p:cNvPr id="70" name="Text Placeholder 69"/>
          <p:cNvSpPr>
            <a:spLocks noGrp="1"/>
          </p:cNvSpPr>
          <p:nvPr>
            <p:ph type="body" sz="quarter" idx="40"/>
          </p:nvPr>
        </p:nvSpPr>
        <p:spPr/>
        <p:txBody>
          <a:bodyPr/>
          <a:lstStyle/>
          <a:p>
            <a:r>
              <a:rPr lang="en-US" dirty="0"/>
              <a:t>Queries</a:t>
            </a:r>
          </a:p>
        </p:txBody>
      </p:sp>
      <p:sp>
        <p:nvSpPr>
          <p:cNvPr id="17" name="Content Placeholder 16"/>
          <p:cNvSpPr>
            <a:spLocks noGrp="1"/>
          </p:cNvSpPr>
          <p:nvPr>
            <p:ph sz="quarter" idx="30"/>
          </p:nvPr>
        </p:nvSpPr>
        <p:spPr>
          <a:xfrm>
            <a:off x="15544800" y="15966908"/>
            <a:ext cx="12801600" cy="15436636"/>
          </a:xfrm>
        </p:spPr>
        <p:txBody>
          <a:bodyPr>
            <a:normAutofit lnSpcReduction="10000"/>
          </a:bodyPr>
          <a:lstStyle/>
          <a:p>
            <a:r>
              <a:rPr lang="en-US" dirty="0"/>
              <a:t>Query 1: List Trainers ordered by age, then by name. It is useful to find out the range of ages in alphabetical order.</a:t>
            </a:r>
          </a:p>
          <a:p>
            <a:r>
              <a:rPr lang="en-US" dirty="0"/>
              <a:t>Query 2: This query shows all the trainers ages doubled. Because it might be fun to use when you're bored.</a:t>
            </a:r>
          </a:p>
          <a:p>
            <a:r>
              <a:rPr lang="en-US" dirty="0"/>
              <a:t>Query 3: This query extracts the first letter from each </a:t>
            </a:r>
            <a:r>
              <a:rPr lang="en-US" dirty="0" err="1"/>
              <a:t>pokemon's</a:t>
            </a:r>
            <a:r>
              <a:rPr lang="en-US" dirty="0"/>
              <a:t> nickname using LEFT. It's useful if you ever need to use just the first letter of a </a:t>
            </a:r>
            <a:r>
              <a:rPr lang="en-US" dirty="0" err="1"/>
              <a:t>pokemon's</a:t>
            </a:r>
            <a:r>
              <a:rPr lang="en-US" dirty="0"/>
              <a:t> nickname </a:t>
            </a:r>
          </a:p>
          <a:p>
            <a:r>
              <a:rPr lang="en-US" dirty="0"/>
              <a:t>Query 4: This query gets the count of how many </a:t>
            </a:r>
            <a:r>
              <a:rPr lang="en-US" dirty="0" err="1"/>
              <a:t>pokemon</a:t>
            </a:r>
            <a:r>
              <a:rPr lang="en-US" dirty="0"/>
              <a:t> each trainer currently has who are also over 12. This can be useful to narrow down and find certain trainer ids faster and how many </a:t>
            </a:r>
            <a:r>
              <a:rPr lang="en-US" dirty="0" err="1"/>
              <a:t>Pokemon</a:t>
            </a:r>
            <a:r>
              <a:rPr lang="en-US" dirty="0"/>
              <a:t> they should have </a:t>
            </a:r>
          </a:p>
          <a:p>
            <a:r>
              <a:rPr lang="en-US" dirty="0"/>
              <a:t>Query 5: This query joins </a:t>
            </a:r>
            <a:r>
              <a:rPr lang="en-US" dirty="0" err="1"/>
              <a:t>Pokemon</a:t>
            </a:r>
            <a:r>
              <a:rPr lang="en-US" dirty="0"/>
              <a:t>, </a:t>
            </a:r>
            <a:r>
              <a:rPr lang="en-US" dirty="0" err="1"/>
              <a:t>PokeType</a:t>
            </a:r>
            <a:r>
              <a:rPr lang="en-US" dirty="0"/>
              <a:t>, and Types. This is useful to have a table that shows the typing of all the </a:t>
            </a:r>
            <a:r>
              <a:rPr lang="en-US" dirty="0" err="1"/>
              <a:t>pokemon</a:t>
            </a:r>
            <a:endParaRPr lang="en-US" dirty="0"/>
          </a:p>
          <a:p>
            <a:r>
              <a:rPr lang="en-US" dirty="0"/>
              <a:t>Query 6: This query Left Joins the Trainer and </a:t>
            </a:r>
            <a:r>
              <a:rPr lang="en-US" dirty="0" err="1"/>
              <a:t>Pokemon</a:t>
            </a:r>
            <a:r>
              <a:rPr lang="en-US" dirty="0"/>
              <a:t> tables. This is useful to show off which Trainers have which </a:t>
            </a:r>
            <a:r>
              <a:rPr lang="en-US" dirty="0" err="1"/>
              <a:t>Pokemon</a:t>
            </a:r>
            <a:r>
              <a:rPr lang="en-US" dirty="0"/>
              <a:t> visually and which do not</a:t>
            </a:r>
          </a:p>
          <a:p>
            <a:r>
              <a:rPr lang="en-US" dirty="0"/>
              <a:t>Query 7: This update changes the age of one of the Trainers. This can be useful if you mistype what the age is</a:t>
            </a:r>
          </a:p>
          <a:p>
            <a:r>
              <a:rPr lang="en-US" dirty="0"/>
              <a:t>Query 8: This query deletes a single Trainer row. This is useful if there was a mistake in the row just added row and because it has no connecting info in the </a:t>
            </a:r>
            <a:r>
              <a:rPr lang="en-US" dirty="0" err="1"/>
              <a:t>pokemon</a:t>
            </a:r>
            <a:r>
              <a:rPr lang="en-US" dirty="0"/>
              <a:t> table currently can be easily deleted</a:t>
            </a:r>
          </a:p>
          <a:p>
            <a:r>
              <a:rPr lang="en-US" dirty="0"/>
              <a:t>Query 9: This query creates a view with </a:t>
            </a:r>
            <a:r>
              <a:rPr lang="en-US" dirty="0" err="1"/>
              <a:t>Pokemon</a:t>
            </a:r>
            <a:r>
              <a:rPr lang="en-US" dirty="0"/>
              <a:t>, </a:t>
            </a:r>
            <a:r>
              <a:rPr lang="en-US" dirty="0" err="1"/>
              <a:t>PokeType</a:t>
            </a:r>
            <a:r>
              <a:rPr lang="en-US" dirty="0"/>
              <a:t>, and Types. This provides a similar use to the three way join just as a view</a:t>
            </a:r>
          </a:p>
          <a:p>
            <a:r>
              <a:rPr lang="en-US" dirty="0"/>
              <a:t>Query 10: This example shows a case where we </a:t>
            </a:r>
            <a:r>
              <a:rPr lang="en-US" dirty="0" err="1"/>
              <a:t>temoraily</a:t>
            </a:r>
            <a:r>
              <a:rPr lang="en-US" dirty="0"/>
              <a:t> change the name for </a:t>
            </a:r>
            <a:r>
              <a:rPr lang="en-US" dirty="0" err="1"/>
              <a:t>Pokemon</a:t>
            </a:r>
            <a:r>
              <a:rPr lang="en-US" dirty="0"/>
              <a:t>, check the result, and then roll it back. This is useful to test changes to when those </a:t>
            </a:r>
            <a:r>
              <a:rPr lang="en-US" dirty="0" err="1"/>
              <a:t>pokemon</a:t>
            </a:r>
            <a:r>
              <a:rPr lang="en-US" dirty="0"/>
              <a:t> possible evolve later down the line</a:t>
            </a:r>
          </a:p>
          <a:p>
            <a:endParaRPr lang="en-US" dirty="0"/>
          </a:p>
        </p:txBody>
      </p:sp>
      <p:sp>
        <p:nvSpPr>
          <p:cNvPr id="18" name="Text Placeholder 17"/>
          <p:cNvSpPr>
            <a:spLocks noGrp="1"/>
          </p:cNvSpPr>
          <p:nvPr>
            <p:ph type="body" sz="quarter" idx="31"/>
          </p:nvPr>
        </p:nvSpPr>
        <p:spPr/>
        <p:txBody>
          <a:bodyPr/>
          <a:lstStyle/>
          <a:p>
            <a:r>
              <a:rPr lang="en-US" dirty="0"/>
              <a:t>Reports</a:t>
            </a:r>
          </a:p>
        </p:txBody>
      </p:sp>
      <p:sp>
        <p:nvSpPr>
          <p:cNvPr id="6" name="Content Placeholder 5"/>
          <p:cNvSpPr>
            <a:spLocks noGrp="1"/>
          </p:cNvSpPr>
          <p:nvPr>
            <p:ph sz="quarter" idx="33"/>
          </p:nvPr>
        </p:nvSpPr>
        <p:spPr/>
        <p:txBody>
          <a:bodyPr/>
          <a:lstStyle/>
          <a:p>
            <a:r>
              <a:rPr lang="en-US" dirty="0"/>
              <a:t>Show sample reports and/or charts</a:t>
            </a:r>
          </a:p>
        </p:txBody>
      </p:sp>
      <p:sp>
        <p:nvSpPr>
          <p:cNvPr id="71" name="Text Placeholder 70"/>
          <p:cNvSpPr>
            <a:spLocks noGrp="1"/>
          </p:cNvSpPr>
          <p:nvPr>
            <p:ph type="body" sz="quarter" idx="41"/>
          </p:nvPr>
        </p:nvSpPr>
        <p:spPr/>
        <p:txBody>
          <a:bodyPr/>
          <a:lstStyle/>
          <a:p>
            <a:r>
              <a:rPr lang="en-US" dirty="0"/>
              <a:t>Future Work</a:t>
            </a:r>
          </a:p>
        </p:txBody>
      </p:sp>
      <p:sp>
        <p:nvSpPr>
          <p:cNvPr id="15" name="Content Placeholder 14"/>
          <p:cNvSpPr>
            <a:spLocks noGrp="1"/>
          </p:cNvSpPr>
          <p:nvPr>
            <p:ph sz="quarter" idx="42"/>
          </p:nvPr>
        </p:nvSpPr>
        <p:spPr/>
        <p:txBody>
          <a:bodyPr/>
          <a:lstStyle/>
          <a:p>
            <a:r>
              <a:rPr lang="en-US" dirty="0"/>
              <a:t>There is no future work with this</a:t>
            </a:r>
          </a:p>
        </p:txBody>
      </p:sp>
      <p:sp>
        <p:nvSpPr>
          <p:cNvPr id="21" name="Text Placeholder 20"/>
          <p:cNvSpPr>
            <a:spLocks noGrp="1"/>
          </p:cNvSpPr>
          <p:nvPr>
            <p:ph type="body" sz="quarter" idx="34"/>
          </p:nvPr>
        </p:nvSpPr>
        <p:spPr/>
        <p:txBody>
          <a:bodyPr/>
          <a:lstStyle/>
          <a:p>
            <a:r>
              <a:rPr lang="en-US"/>
              <a:t>Works Cited</a:t>
            </a:r>
            <a:endParaRPr lang="en-US" dirty="0"/>
          </a:p>
        </p:txBody>
      </p:sp>
      <p:sp>
        <p:nvSpPr>
          <p:cNvPr id="22" name="Content Placeholder 21"/>
          <p:cNvSpPr>
            <a:spLocks noGrp="1"/>
          </p:cNvSpPr>
          <p:nvPr>
            <p:ph sz="quarter" idx="35"/>
          </p:nvPr>
        </p:nvSpPr>
        <p:spPr/>
        <p:txBody>
          <a:bodyPr/>
          <a:lstStyle/>
          <a:p>
            <a:r>
              <a:rPr lang="en-US" dirty="0"/>
              <a:t>https://github.com/CSblackmerm/CSFinalMB/tree/main</a:t>
            </a:r>
          </a:p>
        </p:txBody>
      </p:sp>
      <p:pic>
        <p:nvPicPr>
          <p:cNvPr id="14" name="Picture Placeholder 13" descr="A close-up of a white background&#10;&#10;Description automatically generated">
            <a:extLst>
              <a:ext uri="{FF2B5EF4-FFF2-40B4-BE49-F238E27FC236}">
                <a16:creationId xmlns:a16="http://schemas.microsoft.com/office/drawing/2014/main" id="{55F4468A-BD95-ED33-F17B-AD202F16153C}"/>
              </a:ext>
            </a:extLst>
          </p:cNvPr>
          <p:cNvPicPr>
            <a:picLocks noGrp="1" noChangeAspect="1"/>
          </p:cNvPicPr>
          <p:nvPr>
            <p:ph type="pic" sz="quarter" idx="43"/>
          </p:nvPr>
        </p:nvPicPr>
        <p:blipFill>
          <a:blip r:embed="rId2">
            <a:extLst>
              <a:ext uri="{28A0092B-C50C-407E-A947-70E740481C1C}">
                <a14:useLocalDpi xmlns:a14="http://schemas.microsoft.com/office/drawing/2010/main" val="0"/>
              </a:ext>
            </a:extLst>
          </a:blip>
          <a:srcRect t="27960" b="27960"/>
          <a:stretch>
            <a:fillRect/>
          </a:stretch>
        </p:blipFill>
        <p:spPr/>
      </p:pic>
      <p:sp>
        <p:nvSpPr>
          <p:cNvPr id="10" name="Text Placeholder 9">
            <a:extLst>
              <a:ext uri="{FF2B5EF4-FFF2-40B4-BE49-F238E27FC236}">
                <a16:creationId xmlns:a16="http://schemas.microsoft.com/office/drawing/2014/main" id="{2252BFEF-49C5-9959-C3E6-B091CB2C364C}"/>
              </a:ext>
            </a:extLst>
          </p:cNvPr>
          <p:cNvSpPr>
            <a:spLocks noGrp="1"/>
          </p:cNvSpPr>
          <p:nvPr>
            <p:ph type="body" sz="quarter" idx="17"/>
          </p:nvPr>
        </p:nvSpPr>
        <p:spPr>
          <a:xfrm>
            <a:off x="1188720" y="11946737"/>
            <a:ext cx="12801600" cy="1219200"/>
          </a:xfrm>
        </p:spPr>
        <p:txBody>
          <a:bodyPr/>
          <a:lstStyle/>
          <a:p>
            <a:r>
              <a:rPr lang="en-US" dirty="0"/>
              <a:t>Design</a:t>
            </a:r>
          </a:p>
        </p:txBody>
      </p:sp>
      <p:sp>
        <p:nvSpPr>
          <p:cNvPr id="28" name="Content Placeholder 11">
            <a:extLst>
              <a:ext uri="{FF2B5EF4-FFF2-40B4-BE49-F238E27FC236}">
                <a16:creationId xmlns:a16="http://schemas.microsoft.com/office/drawing/2014/main" id="{E50E5B5E-DD9F-CFEA-93B8-500866A01D35}"/>
              </a:ext>
            </a:extLst>
          </p:cNvPr>
          <p:cNvSpPr txBox="1">
            <a:spLocks/>
          </p:cNvSpPr>
          <p:nvPr/>
        </p:nvSpPr>
        <p:spPr>
          <a:xfrm>
            <a:off x="1188720" y="13326657"/>
            <a:ext cx="12801600" cy="8645568"/>
          </a:xfrm>
          <a:prstGeom prst="rect">
            <a:avLst/>
          </a:prstGeom>
        </p:spPr>
        <p:txBody>
          <a:bodyPr vert="horz" lIns="91440" tIns="182880" rIns="91440" bIns="45720" rtlCol="0">
            <a:normAutofit fontScale="85000" lnSpcReduction="20000"/>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r>
              <a:rPr lang="en-US" dirty="0"/>
              <a:t>The database has four tables: </a:t>
            </a:r>
            <a:r>
              <a:rPr lang="en-US" dirty="0" err="1"/>
              <a:t>Pokemon</a:t>
            </a:r>
            <a:r>
              <a:rPr lang="en-US" dirty="0"/>
              <a:t>, Trainer, Types, and </a:t>
            </a:r>
            <a:r>
              <a:rPr lang="en-US" dirty="0" err="1"/>
              <a:t>PokeTypes</a:t>
            </a:r>
            <a:r>
              <a:rPr lang="en-US" dirty="0"/>
              <a:t>. Each table holds specific information that contributes to the database. </a:t>
            </a:r>
            <a:r>
              <a:rPr lang="en-US" dirty="0" err="1"/>
              <a:t>Pokemon</a:t>
            </a:r>
            <a:r>
              <a:rPr lang="en-US" dirty="0"/>
              <a:t> represents the </a:t>
            </a:r>
            <a:r>
              <a:rPr lang="en-US" dirty="0" err="1"/>
              <a:t>Pokemon</a:t>
            </a:r>
            <a:r>
              <a:rPr lang="en-US" dirty="0"/>
              <a:t> captured during then Nuzlocke; Trainer represents the persons player character and by extension their save file on a Nuzlocke; Types holds all the types </a:t>
            </a:r>
            <a:r>
              <a:rPr lang="en-US" dirty="0" err="1"/>
              <a:t>Pokemon</a:t>
            </a:r>
            <a:r>
              <a:rPr lang="en-US" dirty="0"/>
              <a:t> could possibly have; </a:t>
            </a:r>
            <a:r>
              <a:rPr lang="en-US" dirty="0" err="1"/>
              <a:t>PokeTypes</a:t>
            </a:r>
            <a:r>
              <a:rPr lang="en-US" dirty="0"/>
              <a:t> connects both </a:t>
            </a:r>
            <a:r>
              <a:rPr lang="en-US" dirty="0" err="1"/>
              <a:t>Pokemon</a:t>
            </a:r>
            <a:r>
              <a:rPr lang="en-US" dirty="0"/>
              <a:t> and Types. Keeping these tables, separate helps hold up the normalization standard. </a:t>
            </a:r>
            <a:r>
              <a:rPr lang="en-US" dirty="0" err="1"/>
              <a:t>PokeTypes</a:t>
            </a:r>
            <a:r>
              <a:rPr lang="en-US" dirty="0"/>
              <a:t> table exist because </a:t>
            </a:r>
            <a:r>
              <a:rPr lang="en-US" dirty="0" err="1"/>
              <a:t>Pokemon</a:t>
            </a:r>
            <a:r>
              <a:rPr lang="en-US" dirty="0"/>
              <a:t> can have one or two types and doing things this way is both easier and doesn't go against the basic rule of a column not being able to have </a:t>
            </a:r>
            <a:r>
              <a:rPr lang="en-US" dirty="0" err="1"/>
              <a:t>mutiple</a:t>
            </a:r>
            <a:r>
              <a:rPr lang="en-US" dirty="0"/>
              <a:t> values in one row. Another thing is keeping Trainer separate because it prevent the storage and typing of repetitive information and unnecessary storage use. Describe the purpose of each table in your database.</a:t>
            </a:r>
          </a:p>
          <a:p>
            <a:r>
              <a:rPr lang="en-US" dirty="0"/>
              <a:t>*</a:t>
            </a:r>
            <a:r>
              <a:rPr lang="en-US" dirty="0" err="1"/>
              <a:t>Pokemon</a:t>
            </a:r>
            <a:r>
              <a:rPr lang="en-US" dirty="0"/>
              <a:t>*Stores all information for the </a:t>
            </a:r>
            <a:r>
              <a:rPr lang="en-US" dirty="0" err="1"/>
              <a:t>pokemon</a:t>
            </a:r>
            <a:r>
              <a:rPr lang="en-US" dirty="0"/>
              <a:t> collected during a Nuzlocke. It holds where it was found, it's species name, it's nickname you give it, the level you caught it at and it's pokedex number. All </a:t>
            </a:r>
            <a:r>
              <a:rPr lang="en-US" dirty="0" err="1"/>
              <a:t>pokemon</a:t>
            </a:r>
            <a:r>
              <a:rPr lang="en-US" dirty="0"/>
              <a:t> connect to both someone in the trainer table and to the </a:t>
            </a:r>
            <a:r>
              <a:rPr lang="en-US" dirty="0" err="1"/>
              <a:t>PokeTypes</a:t>
            </a:r>
            <a:r>
              <a:rPr lang="en-US" dirty="0"/>
              <a:t> table which further connects to types.</a:t>
            </a:r>
          </a:p>
          <a:p>
            <a:r>
              <a:rPr lang="en-US" dirty="0"/>
              <a:t>*Trainer*Stores all information about your trainer during a Nuzlocke. It holds the characters name, age, and the starting date of when you started your Nuzlocke. All </a:t>
            </a:r>
            <a:r>
              <a:rPr lang="en-US" dirty="0" err="1"/>
              <a:t>Pokemon</a:t>
            </a:r>
            <a:r>
              <a:rPr lang="en-US" dirty="0"/>
              <a:t> must be connected to one of these</a:t>
            </a:r>
          </a:p>
          <a:p>
            <a:r>
              <a:rPr lang="en-US" dirty="0"/>
              <a:t>*Types*Stores all the types that exist in </a:t>
            </a:r>
            <a:r>
              <a:rPr lang="en-US" dirty="0" err="1"/>
              <a:t>pokemon</a:t>
            </a:r>
            <a:r>
              <a:rPr lang="en-US" dirty="0"/>
              <a:t> that a </a:t>
            </a:r>
            <a:r>
              <a:rPr lang="en-US" dirty="0" err="1"/>
              <a:t>pokemon</a:t>
            </a:r>
            <a:r>
              <a:rPr lang="en-US" dirty="0"/>
              <a:t> might have. it connects to the </a:t>
            </a:r>
            <a:r>
              <a:rPr lang="en-US" dirty="0" err="1"/>
              <a:t>PokeTypes</a:t>
            </a:r>
            <a:r>
              <a:rPr lang="en-US" dirty="0"/>
              <a:t> table which further connects to the </a:t>
            </a:r>
            <a:r>
              <a:rPr lang="en-US" dirty="0" err="1"/>
              <a:t>pokemon</a:t>
            </a:r>
            <a:r>
              <a:rPr lang="en-US" dirty="0"/>
              <a:t> table..</a:t>
            </a:r>
          </a:p>
          <a:p>
            <a:r>
              <a:rPr lang="en-US" dirty="0"/>
              <a:t>*</a:t>
            </a:r>
            <a:r>
              <a:rPr lang="en-US" dirty="0" err="1"/>
              <a:t>PokeTypes</a:t>
            </a:r>
            <a:r>
              <a:rPr lang="en-US" dirty="0"/>
              <a:t>*The connector table between </a:t>
            </a:r>
            <a:r>
              <a:rPr lang="en-US" dirty="0" err="1"/>
              <a:t>Pokemon</a:t>
            </a:r>
            <a:r>
              <a:rPr lang="en-US" dirty="0"/>
              <a:t> and Types. This purely exist to keep normalization.</a:t>
            </a:r>
          </a:p>
          <a:p>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
        <p:nvSpPr>
          <p:cNvPr id="41" name="Content Placeholder 16">
            <a:extLst>
              <a:ext uri="{FF2B5EF4-FFF2-40B4-BE49-F238E27FC236}">
                <a16:creationId xmlns:a16="http://schemas.microsoft.com/office/drawing/2014/main" id="{3827A9AE-824D-EFA3-9385-3D8D1D0E98F0}"/>
              </a:ext>
            </a:extLst>
          </p:cNvPr>
          <p:cNvSpPr txBox="1">
            <a:spLocks/>
          </p:cNvSpPr>
          <p:nvPr/>
        </p:nvSpPr>
        <p:spPr>
          <a:xfrm>
            <a:off x="15544800" y="7049509"/>
            <a:ext cx="12801600" cy="7279139"/>
          </a:xfrm>
          <a:prstGeom prst="rect">
            <a:avLst/>
          </a:prstGeom>
        </p:spPr>
        <p:txBody>
          <a:bodyPr vert="horz" lIns="91440" tIns="182880" rIns="91440" bIns="45720" rtlCol="0">
            <a:norm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r>
              <a:rPr lang="en-US" dirty="0" err="1"/>
              <a:t>Pokemon</a:t>
            </a:r>
            <a:r>
              <a:rPr lang="en-US" dirty="0"/>
              <a:t>: (1,'Route 101','Eevee','Bubbles',5,133,11)</a:t>
            </a:r>
          </a:p>
          <a:p>
            <a:r>
              <a:rPr lang="en-US" dirty="0"/>
              <a:t>Types: (2,'Flying')</a:t>
            </a:r>
          </a:p>
          <a:p>
            <a:r>
              <a:rPr lang="en-US" dirty="0"/>
              <a:t>Trainer: (11,'Jodi',16,'2024-02-10')</a:t>
            </a:r>
          </a:p>
          <a:p>
            <a:r>
              <a:rPr lang="en-US" dirty="0" err="1"/>
              <a:t>PokeTypes</a:t>
            </a:r>
            <a:r>
              <a:rPr lang="en-US" dirty="0"/>
              <a:t>: (9,2,5)</a:t>
            </a:r>
          </a:p>
        </p:txBody>
      </p:sp>
      <p:sp>
        <p:nvSpPr>
          <p:cNvPr id="3" name="Content Placeholder 2">
            <a:extLst>
              <a:ext uri="{FF2B5EF4-FFF2-40B4-BE49-F238E27FC236}">
                <a16:creationId xmlns:a16="http://schemas.microsoft.com/office/drawing/2014/main" id="{34B01EBB-60F6-4B00-B597-158CC3FB46E8}"/>
              </a:ext>
            </a:extLst>
          </p:cNvPr>
          <p:cNvSpPr>
            <a:spLocks noGrp="1"/>
          </p:cNvSpPr>
          <p:nvPr>
            <p:ph sz="quarter" idx="26"/>
          </p:nvPr>
        </p:nvSpPr>
        <p:spPr/>
        <p:txBody>
          <a:bodyPr/>
          <a:lstStyle/>
          <a:p>
            <a:endParaRPr lang="en-US"/>
          </a:p>
        </p:txBody>
      </p:sp>
      <p:pic>
        <p:nvPicPr>
          <p:cNvPr id="7" name="Picture 6" descr="A screenshot of a computer&#10;&#10;AI-generated content may be incorrect.">
            <a:extLst>
              <a:ext uri="{FF2B5EF4-FFF2-40B4-BE49-F238E27FC236}">
                <a16:creationId xmlns:a16="http://schemas.microsoft.com/office/drawing/2014/main" id="{566A506D-75F8-20DC-F74F-FDB6DD8F4065}"/>
              </a:ext>
            </a:extLst>
          </p:cNvPr>
          <p:cNvPicPr>
            <a:picLocks noChangeAspect="1"/>
          </p:cNvPicPr>
          <p:nvPr/>
        </p:nvPicPr>
        <p:blipFill>
          <a:blip r:embed="rId3"/>
          <a:stretch>
            <a:fillRect/>
          </a:stretch>
        </p:blipFill>
        <p:spPr>
          <a:xfrm>
            <a:off x="1502230" y="23384741"/>
            <a:ext cx="12488090" cy="9302432"/>
          </a:xfrm>
          <a:prstGeom prst="rect">
            <a:avLst/>
          </a:prstGeom>
        </p:spPr>
      </p:pic>
      <p:pic>
        <p:nvPicPr>
          <p:cNvPr id="20" name="Content Placeholder 19" descr="A screenshot of a computer&#10;&#10;AI-generated content may be incorrect.">
            <a:extLst>
              <a:ext uri="{FF2B5EF4-FFF2-40B4-BE49-F238E27FC236}">
                <a16:creationId xmlns:a16="http://schemas.microsoft.com/office/drawing/2014/main" id="{0B1D54D1-56E6-F2EE-137B-A73E9828FCEF}"/>
              </a:ext>
            </a:extLst>
          </p:cNvPr>
          <p:cNvPicPr>
            <a:picLocks noGrp="1" noChangeAspect="1"/>
          </p:cNvPicPr>
          <p:nvPr>
            <p:ph sz="quarter" idx="32"/>
          </p:nvPr>
        </p:nvPicPr>
        <p:blipFill>
          <a:blip r:embed="rId4">
            <a:extLst>
              <a:ext uri="{28A0092B-C50C-407E-A947-70E740481C1C}">
                <a14:useLocalDpi xmlns:a14="http://schemas.microsoft.com/office/drawing/2010/main" val="0"/>
              </a:ext>
            </a:extLst>
          </a:blip>
          <a:stretch>
            <a:fillRect/>
          </a:stretch>
        </p:blipFill>
        <p:spPr>
          <a:xfrm>
            <a:off x="28935281" y="7049510"/>
            <a:ext cx="14732797" cy="12403934"/>
          </a:xfrm>
        </p:spPr>
      </p:pic>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9B7E175-EA31-4EB5-9BCC-A945A81036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Science project poster</Template>
  <TotalTime>0</TotalTime>
  <Words>893</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 Light</vt:lpstr>
      <vt:lpstr>Science Poster</vt:lpstr>
      <vt:lpstr>Pokémon Nuzlockes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2016-11-28T02:36:27Z</dcterms:created>
  <dcterms:modified xsi:type="dcterms:W3CDTF">2025-12-10T07:29:11Z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TC040013439991</vt:lpwstr>
  </property>
</Properties>
</file>